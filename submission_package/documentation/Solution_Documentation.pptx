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96012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E8734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43658"/>
                </a:solidFill>
                <a:latin typeface="Aptos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5156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5B6975"/>
                </a:solidFill>
                <a:latin typeface="Aptos"/>
              </a:rPr>
              <a:t>Compact recognition designed for embedded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47088"/>
            <a:ext cx="10881360" cy="22860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0881360" cy="2098548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 w="10160"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82296" cy="2098548"/>
          </a:xfrm>
          <a:prstGeom prst="rect">
            <a:avLst/>
          </a:prstGeom>
          <a:solidFill>
            <a:srgbClr val="EE8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2240280" cy="18790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35E8E"/>
                </a:solidFill>
                <a:latin typeface="Aptos"/>
              </a:rPr>
              <a:t>Algorithm /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148840"/>
            <a:ext cx="8065008" cy="19156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A 5-block depthwise-separable CNN (16-&gt;24-&gt;32-&gt;48-&gt;64) with learned 6x6 per-channel spatial pooling and a Dense(17) classifier.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02252"/>
            <a:ext cx="10881360" cy="2098548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 w="10160"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302252"/>
            <a:ext cx="82296" cy="2098548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411980"/>
            <a:ext cx="2240280" cy="18790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35E8E"/>
                </a:solidFill>
                <a:latin typeface="Aptos"/>
              </a:rPr>
              <a:t>Why this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4393692"/>
            <a:ext cx="8065008" cy="19156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Depthwise convolutions provide strong image features with few parameters; learned spatial pooling preserves useful sign location cues while keeping flash and RAM usage 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6492240"/>
            <a:ext cx="12801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5B6975"/>
                </a:solidFill>
                <a:latin typeface="Aptos"/>
              </a:rPr>
              <a:t>AI ARENA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96012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E8734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43658"/>
                </a:solidFill>
                <a:latin typeface="Aptos"/>
              </a:rPr>
              <a:t>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5156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5B6975"/>
                </a:solidFill>
                <a:latin typeface="Aptos"/>
              </a:rPr>
              <a:t>Orientation-aware learning on the supplied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47088"/>
            <a:ext cx="10881360" cy="22860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0881360" cy="2098548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 w="10160"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82296" cy="2098548"/>
          </a:xfrm>
          <a:prstGeom prst="rect">
            <a:avLst/>
          </a:prstGeom>
          <a:solidFill>
            <a:srgbClr val="EE8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2240280" cy="18790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35E8E"/>
                </a:solidFill>
                <a:latin typeface="Aptos"/>
              </a:rPr>
              <a:t>How it was trained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148840"/>
            <a:ext cx="8065008" cy="19156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48x48 RGB images; class-aware oversampling; +/-6 degree rotation, translation, zoom, brightness and contrast augmentation; class weights; Adam with cosine learning-rate decay; label smoothing 0.05 and light MixUp (alpha 0.10).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02252"/>
            <a:ext cx="10881360" cy="2098548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 w="10160"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302252"/>
            <a:ext cx="82296" cy="2098548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411980"/>
            <a:ext cx="2240280" cy="18790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35E8E"/>
                </a:solidFill>
                <a:latin typeface="Aptos"/>
              </a:rPr>
              <a:t>Training / validation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4393692"/>
            <a:ext cx="8065008" cy="19156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Quantization-aware training (25 epochs) evaluated every checkpoint as INT8. The selected checkpoint achieved 352/364 correct on validation: 96.70%.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6492240"/>
            <a:ext cx="12801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5B6975"/>
                </a:solidFill>
                <a:latin typeface="Aptos"/>
              </a:rPr>
              <a:t>AI ARENA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96012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E8734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43658"/>
                </a:solidFill>
                <a:latin typeface="Aptos"/>
              </a:rPr>
              <a:t>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5156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5B6975"/>
                </a:solidFill>
                <a:latin typeface="Aptos"/>
              </a:rPr>
              <a:t>Full-integer deployment without measured accuracy loss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47088"/>
            <a:ext cx="10881360" cy="22860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0881360" cy="1350264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 w="10160"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82296" cy="1350264"/>
          </a:xfrm>
          <a:prstGeom prst="rect">
            <a:avLst/>
          </a:prstGeom>
          <a:solidFill>
            <a:srgbClr val="EE8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2240280" cy="1130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35E8E"/>
                </a:solidFill>
                <a:latin typeface="Aptos"/>
              </a:rP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148840"/>
            <a:ext cx="8065008" cy="11673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Quantization-aware training followed by full-integer INT8 TFLite conversion with INT8 input and output. The best checkpoint was selected using exact INT8 validation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53968"/>
            <a:ext cx="10881360" cy="1350264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 w="10160"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553968"/>
            <a:ext cx="82296" cy="1350264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663696"/>
            <a:ext cx="2240280" cy="1130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35E8E"/>
                </a:solidFill>
                <a:latin typeface="Aptos"/>
              </a:rPr>
              <a:t>Model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645408"/>
            <a:ext cx="8065008" cy="11673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Before: 234,708-byte Keras artifact. After: 30,168-byte TFLite model (87.1% smaller).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50536"/>
            <a:ext cx="10881360" cy="1350264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 w="10160"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50536"/>
            <a:ext cx="82296" cy="1350264"/>
          </a:xfrm>
          <a:prstGeom prst="rect">
            <a:avLst/>
          </a:prstGeom>
          <a:solidFill>
            <a:srgbClr val="EE8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160264"/>
            <a:ext cx="2240280" cy="1130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35E8E"/>
                </a:solidFill>
                <a:latin typeface="Aptos"/>
              </a:rPr>
              <a:t>Accuracy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5141976"/>
            <a:ext cx="8065008" cy="11673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Selected checkpoint before conversion: 96.70%. INT8 model after conversion: 96.70% (352/364). No measured validation loss.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6492240"/>
            <a:ext cx="12801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5B6975"/>
                </a:solidFill>
                <a:latin typeface="Aptos"/>
              </a:rPr>
              <a:t>AI ARENA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96012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E8734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43658"/>
                </a:solidFill>
                <a:latin typeface="Aptos"/>
              </a:rPr>
              <a:t>Embedded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5156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5B6975"/>
                </a:solidFill>
                <a:latin typeface="Aptos"/>
              </a:rPr>
              <a:t>TensorFlow Lite Micro integrated with Zephyr RTOS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47088"/>
            <a:ext cx="10881360" cy="22860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0881360" cy="2098548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 w="10160"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82296" cy="2098548"/>
          </a:xfrm>
          <a:prstGeom prst="rect">
            <a:avLst/>
          </a:prstGeom>
          <a:solidFill>
            <a:srgbClr val="EE8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2240280" cy="18790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35E8E"/>
                </a:solidFill>
                <a:latin typeface="Aptos"/>
              </a:rPr>
              <a:t>Zephyr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148840"/>
            <a:ext cx="8065008" cy="19156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The TFLite model is embedded as a C byte array. A static TFLM interpreter and 40 KB tensor arena register only the required operators. Firmware receives a 6,912-byte RGB frame over UART and returns the official class 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02252"/>
            <a:ext cx="10881360" cy="2098548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 w="10160"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302252"/>
            <a:ext cx="82296" cy="2098548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411980"/>
            <a:ext cx="2240280" cy="18790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35E8E"/>
                </a:solidFill>
                <a:latin typeface="Aptos"/>
              </a:rPr>
              <a:t>Running in QEMU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4393692"/>
            <a:ext cx="8065008" cy="19156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Build the Zephyr qemu_x86 target, boot it with QEMU, then use qemu_uart_test.py to send the 0xAA 0x55 marker plus image bytes and read the predicted ID. Predictions were checked against desktop TFLite output.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6492240"/>
            <a:ext cx="12801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5B6975"/>
                </a:solidFill>
                <a:latin typeface="Aptos"/>
              </a:rPr>
              <a:t>AI ARENA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96012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E8734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43658"/>
                </a:solidFill>
                <a:latin typeface="Aptos"/>
              </a:rPr>
              <a:t>Performance on Validation Set in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5156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5B6975"/>
                </a:solidFill>
                <a:latin typeface="Aptos"/>
              </a:rPr>
              <a:t>Measured with the deployed v16 INT8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47088"/>
            <a:ext cx="10881360" cy="22860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0881360" cy="976121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 w="10160"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82296" cy="976121"/>
          </a:xfrm>
          <a:prstGeom prst="rect">
            <a:avLst/>
          </a:prstGeom>
          <a:solidFill>
            <a:srgbClr val="EE8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2240280" cy="7566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35E8E"/>
                </a:solidFill>
                <a:latin typeface="Aptos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148840"/>
            <a:ext cx="8065008" cy="79324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202A34"/>
                </a:solidFill>
                <a:latin typeface="Aptos"/>
              </a:rPr>
              <a:t>352/364 correct (96.70%), with exact QEMU prediction parity on the tested validation images.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79826"/>
            <a:ext cx="10881360" cy="976121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 w="10160"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179826"/>
            <a:ext cx="82296" cy="976121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89554"/>
            <a:ext cx="2240280" cy="7566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35E8E"/>
                </a:solidFill>
                <a:latin typeface="Aptos"/>
              </a:rPr>
              <a:t>Model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271266"/>
            <a:ext cx="8065008" cy="79324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202A34"/>
                </a:solidFill>
                <a:latin typeface="Aptos"/>
              </a:rPr>
              <a:t>30,168 bytes (29.5 KB), 11,417 parameters.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02252"/>
            <a:ext cx="10881360" cy="976121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 w="10160"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02252"/>
            <a:ext cx="82296" cy="976121"/>
          </a:xfrm>
          <a:prstGeom prst="rect">
            <a:avLst/>
          </a:prstGeom>
          <a:solidFill>
            <a:srgbClr val="EE8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411980"/>
            <a:ext cx="2240280" cy="7566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35E8E"/>
                </a:solidFill>
                <a:latin typeface="Aptos"/>
              </a:rPr>
              <a:t>RAM usage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4393692"/>
            <a:ext cx="8065008" cy="79324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202A34"/>
                </a:solidFill>
                <a:latin typeface="Aptos"/>
              </a:rPr>
              <a:t>TFLM tensor arena: 28,436 / 40,960 bytes used. Zephyr build RAM: 279,164 bytes.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24678"/>
            <a:ext cx="10881360" cy="976121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 w="10160"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424678"/>
            <a:ext cx="82296" cy="976121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534406"/>
            <a:ext cx="2240280" cy="7566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35E8E"/>
                </a:solidFill>
                <a:latin typeface="Aptos"/>
              </a:rPr>
              <a:t>Inference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7248" y="5516118"/>
            <a:ext cx="8065008" cy="79324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202A34"/>
                </a:solidFill>
                <a:latin typeface="Aptos"/>
              </a:rPr>
              <a:t>Approximately 82-106 ms per frame in qemu_x86. QEMU timing is emulated and is not physical ESP32-S3 latency.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6492240"/>
            <a:ext cx="12801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5B6975"/>
                </a:solidFill>
                <a:latin typeface="Aptos"/>
              </a:rPr>
              <a:t>AI ARENA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